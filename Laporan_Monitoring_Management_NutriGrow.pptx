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097280"/>
            <a:ext cx="731520" cy="731520"/>
          </a:xfrm>
          <a:prstGeom prst="ellipse">
            <a:avLst/>
          </a:prstGeom>
          <a:solidFill>
            <a:srgbClr val="34D399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303520"/>
            <a:ext cx="914400" cy="914400"/>
          </a:xfrm>
          <a:prstGeom prst="ellipse">
            <a:avLst/>
          </a:prstGeom>
          <a:solidFill>
            <a:srgbClr val="22D3EE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486400"/>
            <a:ext cx="457200" cy="457200"/>
          </a:xfrm>
          <a:prstGeom prst="ellipse">
            <a:avLst/>
          </a:prstGeom>
          <a:solidFill>
            <a:srgbClr val="A78BFA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Perancangan Monitoring &amp;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34D399"/>
                </a:solidFill>
                <a:latin typeface="Segoe UI"/>
              </a:rPr>
              <a:t>Management Sistem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Implementasi pada Proyek NutriGrow — Sistem IoT Pertanian Cerdas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14800"/>
            <a:ext cx="36576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Mata Kuliah: Perancangan Monitoring &amp; Management Sistem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Disusun oleh: Pandya Andy Marcellino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760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Next.js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5760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760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MQTT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760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ESP32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5760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Fuzzy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Struktur presentasi mengacu pada ketentuan tugas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19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Penentuan Jenis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29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Fault, Configuration, Security Management (ISO)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963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Penentuan Parameter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072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Device Uptime, RSSI, Battery Level, Actuator Duration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735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Desain Sistem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844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Arsitektur custom full-stack: Next.js + Supabase + MQTT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50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Simulasi Gangguan Jaringan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616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2 Skenario: Sensor Offline &amp; Gateway Down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28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Dashboard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38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Status device, grafik sensor, alert, dan trafik log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6052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Kesimpulan &amp;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916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Ringkasan dan demonstrasi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01  JENIS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Penentuan Jenis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Mengacu pada konsep ISO Network Management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0040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42316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Fault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Heartbeat monitoring via MQTT.
Jika device tidak mengirim sinyal dalam 1 menit, status otomatis berubah menjadi Offline.
Notifikasi alert dikirim ke dashboard admin.
Predictive maintenance via Battery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94560"/>
            <a:ext cx="320040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60" y="24231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Configuration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Pendataan Device berdasarkan ID unik &amp; tipe.
Pemetaan perangkat ke zona/lahan.
Manajemen firmware version.
Konfigurasi resep nutrisi &amp; jadwal penyiraman (Fuzzy Logic + Smart Delay).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94560"/>
            <a:ext cx="320040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20" y="24231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Security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Autentikasi Google OAuth.
Role-Based Access Control (RBAC):
• Super Admin
• Pemilik Kebun
• Guest
Pending Approval untuk user baru.
Audit trail pada setiap Override.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02  PARAMETER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Penentuan Parameter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4 parameter kunci yang dipantau secara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Device Uptime &amp;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Fault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Mengukur keandalan dan stabilitas Sensor Node maupun Gateway. Jika gateway mati, penjadwalan penyiraman cerdas tidak akan berjalan.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233172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RSSI (Signal Quality)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38328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Performance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Memantau kekuatan sinyal nirkabel (WiFi/ESP-NOW) di area perkebunan. Sinyal lemah menyebabkan delay atau kegagalan perintah aktuator.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233172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Battery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8328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Fault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Sensor Node nirkabel di lahan pertanian. Memonitor baterai agar pengelola bisa melakukan charging sebelum alat mati total.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52560" y="233172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Actuator Duration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38328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Accounting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Memantau durasi operasi Pompa Air, Pompa Pupuk, dan Solenoid. Berguna untuk mengukur efisiensi sistem elektrik.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03  DESAIN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Desain Sistem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Custom-built full-stack — Tanpa tools pihak ketiga (Zabbix/Grafana/PRTG)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Hardware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ESP32 Sensor Node
ESP8266 Gateway
Relay, Solenoid, Pompa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42316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Protokol Komunikasi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MQTT (Mosquitto Broker)
HTTP REST API
WebSocket Realtime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19456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Backend &amp;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Supabase (PostgreSQL)
Realtime subscriptions
Row Level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194560"/>
            <a:ext cx="2468880" cy="27432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98280" y="24231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Frontend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Next.js 16 (React)
Tailwind CSS
Responsive &amp; PWA-ready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440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💡 Alasan tidak menggunakan Zabbix/Grafana: Sistem NutriGrow membutuhkan integrasi langsung antara logika fuzzy penyiraman, kontrol aktuator, dan monitoring sensor dalam satu platform terpadu. Tools pihak ketiga hanya menyediakan visualisasi, bukan pengendalian end-to-end.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04  SIMULASI GANGGUAN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Simulasi Gangguan Jaringan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Minimal 2 skenario gangguan untuk demonstrasi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SKENARIO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⚡ Sensor Node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Cara Simulasi: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Cabut power / matikan ESP32 Sensor Node.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Deteksi Sistem: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Server mendeteksi heartbeat terputus. Setelah 1 menit tanpa sinyal, status otomatis berubah menjadi Offline.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Alert ke Admin: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• Indikator di Dashboard berubah merah (Offline)
• Notifikasi device_alert muncul di menu Notifications
• Semua sensor (Soil Moisture, DHT22, TDS, pH) di zona tersebut ikut Offline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3774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SKENARIO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🌐 Gateway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Cara Simulasi: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Matikan router WiFi atau matikan ESP8266 Gateway.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Deteksi Sistem: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Koneksi MQTT Broker terputus dari sisi device. Semua sensor kehilangan jembatan data.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Dampak Lanjutan: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• Status Gateway di Dashboard otomatis berubah Offline
• Semua Sensor Node ikut Offline (efek domino)
• Perintah Override dari web tidak sampai ke hardware
• Web tetap bisa diakses (data historis tetap ada)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05  DASHBOARD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Dashboard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Semua opsi yang diminta telah terimplementasi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Status Device
&amp; Online/Offline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Indikator warna real-time per perangkat individual:
Soil Moisture, DHT22, TDS, pH, Relay, Solenoid, Pompa Air, Pompa Pupuk.
Badge Online (hijau) / Offline (merah) dengan sisa baterai.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Grafik Sensor
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9184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Visualisasi data telemetry:
Suhu, Kelembaban Tanah, Kelembaban Udara, pH, TDS.
Grafik historis 24 jam dengan tren.
Update otomatis via WebSocket subscription.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233172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Trafik &amp; Log
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Mencatat kapan aktuator dinyalakan.
Durasi operasi setiap pompa &amp; solenoid.
Log Override dengan nama operator.
Riwayat irigasi otomatis &amp; manual.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21031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98280" y="233172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Emoji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Alert &amp;
Notifikasi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29184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Lonceng notifikasi di header Dashboard.
Riwayat anomali (device offline alert).
Putusnya koneksi perangkat tercatat.
Badge count untuk notifikasi belum dibaca.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43600"/>
            <a:ext cx="10789920" cy="5029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989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Segoe UI"/>
              </a:rPr>
              <a:t>✅ Status Device    ✅ Online/Offline    ✅ Trafik &amp; Log    ✅ Grafik Sensor    ✅ Alert — Semua opsi dari ketentuan tugas terpenuhi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05b  DEVICE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Perangkat Individual per Zona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Setiap sensor dan aktuator memiliki kartu status masing-masing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📡 Sensor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Soil Moisture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44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Kelembaban tanah kapasitif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538728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02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DHT22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13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Suhu &amp; kelembaban udara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407408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Total Dissolved Solids / 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5276087"/>
            <a:ext cx="502920" cy="50292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⚗️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3951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550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Kadar asam-basa nutrisi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Segoe UI"/>
              </a:rPr>
              <a:t>⚙️ Aktuator Nodes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6032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2670048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Relay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944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Kontrol switch utama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2900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3538728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02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Solenoid Valve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813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Katup distribusi air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9768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4407408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Pompa 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Pompa distribusi air bersih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66359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5276087"/>
            <a:ext cx="502920" cy="502920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Segoe UI Emoji"/>
              </a:rPr>
              <a:t>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23951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Pompa Pupuk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5550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Pompa larutan nutrisi/fertigasi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6126480"/>
            <a:ext cx="10789920" cy="5029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6172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Segoe UI"/>
              </a:rPr>
              <a:t>📻 ESP8266 Gateway — Status dinamis: Online jika minimal 1 sensor aktif, Offline jika semua sensor mati (efek domino)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06 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Kesimpulan &amp;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47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10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Jenis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3 pilar ISO: Fault, Configuration,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847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Segoe UI"/>
              </a:rPr>
              <a:t>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24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87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Parameter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620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4 parameter: Uptime, RSSI, Battery,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243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Segoe UI"/>
              </a:rPr>
              <a:t>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9184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4015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Desain Sistem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393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Custom full-stack (Next.js + Supabase + MQTT)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4015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Segoe UI"/>
              </a:rPr>
              <a:t>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6908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1788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42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Simulasi Gangguan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165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2 skenario: Sensor Offline &amp; Gateway 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1788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Segoe UI"/>
              </a:rPr>
              <a:t>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4632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56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Dashboard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937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Status, Grafik, Alert, Trafik — Semua terpenuhi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9560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Segoe UI"/>
              </a:rPr>
              <a:t>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760720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852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Segoe UI"/>
              </a:rPr>
              <a:t>🎬  DEMO LIVE — Sistem siap didemonstrasikan secara langsung. Silakan siapkan hardware (ESP32 + ESP8266) untuk menunjukkan skenario gangguan secara real-time.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Terima Kasih</a:t>
            </a:r>
          </a:p>
          <a:p>
            <a:pPr algn="ctr">
              <a:spcBef>
                <a:spcPts val="0"/>
              </a:spcBef>
              <a:spcAft>
                <a:spcPts val="2000"/>
              </a:spcAft>
            </a:pPr>
            <a:r>
              <a:rPr sz="2000" b="0">
                <a:solidFill>
                  <a:srgbClr val="34D399"/>
                </a:solidFill>
                <a:latin typeface="Segoe UI"/>
              </a:rPr>
              <a:t>— Sesi Tanya Jawab —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NutriGrow — Sistem IoT Pertanian Cerdas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Pandya Andy Marcellino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50292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Next.js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26967" y="50292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2887" y="50292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MQTT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18807" y="50292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ESP32 + ESP8266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64727" y="50292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Fuzzy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